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731520"/>
            <a:ext cx="1280160" cy="1280160"/>
          </a:xfrm>
          <a:prstGeom prst="ellipse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1828800"/>
            <a:ext cx="731520" cy="731520"/>
          </a:xfrm>
          <a:prstGeom prst="ellipse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286000"/>
            <a:ext cx="502920" cy="502920"/>
          </a:xfrm>
          <a:prstGeom prst="ellipse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3840480"/>
            <a:ext cx="1645920" cy="1645920"/>
          </a:xfrm>
          <a:prstGeom prst="ellipse">
            <a:avLst/>
          </a:prstGeom>
          <a:solidFill>
            <a:srgbClr val="2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5029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6A096"/>
                </a:solidFill>
                <a:latin typeface="Aptos"/>
              </a:rPr>
              <a:t>ENSEMBLE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863840" cy="1508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Three Powerful
Boosting Regressors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8046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D2DCEE"/>
                </a:solidFill>
                <a:latin typeface="Aptos"/>
              </a:rPr>
              <a:t>AdaBoost Regressor  •  XGBoost  •  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86200"/>
            <a:ext cx="69494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BECBE0"/>
                </a:solidFill>
                <a:latin typeface="Aptos"/>
              </a:rPr>
              <a:t>A concise introduction to how they work, where they fit, and how to compare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89320"/>
            <a:ext cx="53035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96AACA"/>
                </a:solidFill>
                <a:latin typeface="Aptos"/>
              </a:rPr>
              <a:t>MACHINE LEARNING  | 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96AACA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4203A"/>
                </a:solidFill>
                <a:latin typeface="Aptos"/>
              </a:rPr>
              <a:t>1. What Is Boosting?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F6C80"/>
                </a:solidFill>
                <a:latin typeface="Aptos"/>
              </a:rPr>
              <a:t>The shared idea behind AdaBoost, XGBoost, and 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F6C80"/>
                </a:solidFill>
                <a:latin typeface="Aptos"/>
              </a:rPr>
              <a:t>02 /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Build models sequentially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3136392" cy="10789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Each new weak learner focuses on patterns or errors left by the previous learners.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828800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Combine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36392" cy="10789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Many small decision trees are combined to create a stronger overall predictor.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1828800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Reduce prediction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36392" cy="10789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Learning rate, tree depth, and other settings help balance accuracy and overfitting.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77639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03A"/>
                </a:solidFill>
                <a:latin typeface="Aptos"/>
              </a:rPr>
              <a:t>Typical boosting workflow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4626864"/>
            <a:ext cx="1691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83141"/>
                </a:solidFill>
                <a:latin typeface="Aptos"/>
              </a:rPr>
              <a:t>Train a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645152"/>
            <a:ext cx="365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5F6C80"/>
                </a:solidFill>
                <a:latin typeface="Aptos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3611880" y="4572000"/>
            <a:ext cx="502920" cy="502920"/>
          </a:xfrm>
          <a:prstGeom prst="ellipse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4654296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4626864"/>
            <a:ext cx="1691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83141"/>
                </a:solidFill>
                <a:latin typeface="Aptos"/>
              </a:rPr>
              <a:t>Measure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645152"/>
            <a:ext cx="365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5F6C80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4572000"/>
            <a:ext cx="502920" cy="502920"/>
          </a:xfrm>
          <a:prstGeom prst="ellipse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654296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4626864"/>
            <a:ext cx="1691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83141"/>
                </a:solidFill>
                <a:latin typeface="Aptos"/>
              </a:rPr>
              <a:t>Add next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645152"/>
            <a:ext cx="365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5F6C80"/>
                </a:solidFill>
                <a:latin typeface="Aptos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9281160" y="4572000"/>
            <a:ext cx="502920" cy="502920"/>
          </a:xfrm>
          <a:prstGeom prst="ellipse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4654296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4626864"/>
            <a:ext cx="1691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83141"/>
                </a:solidFill>
                <a:latin typeface="Aptos"/>
              </a:rPr>
              <a:t>Sum predictions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15000"/>
            <a:ext cx="104241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5F6C80"/>
                </a:solidFill>
                <a:latin typeface="Aptos"/>
              </a:rPr>
              <a:t>Regression output: a continuous value, such as price, demand, or temperature.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4203A"/>
                </a:solidFill>
                <a:latin typeface="Aptos"/>
              </a:rPr>
              <a:t>2. AdaBoost Regressor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F6C80"/>
                </a:solidFill>
                <a:latin typeface="Aptos"/>
              </a:rPr>
              <a:t>Adaptive Boosting: later learners pay more attention to difficult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F6C80"/>
                </a:solidFill>
                <a:latin typeface="Aptos"/>
              </a:rPr>
              <a:t>03 /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96596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4983479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4965192" cy="12161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83141"/>
                </a:solidFill>
                <a:latin typeface="Aptos"/>
              </a:rPr>
              <a:t>• Starts with a simple base model, often a shallow decision tree
• Tracks prediction errors and adjusts the influence of training examples
• Combines learners using weighted contributions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965960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983479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Strengths and cautions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4965192" cy="12161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Strengths
• Conceptually simple; can work well on smaller datasets
Cautions
• Sensitive to noisy data and outliers; may need careful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280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03A"/>
                </a:solidFill>
                <a:latin typeface="Aptos"/>
              </a:rPr>
              <a:t>Key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1042416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283141"/>
                </a:solidFill>
                <a:latin typeface="Aptos"/>
              </a:rPr>
              <a:t>Give more influence to examples that are harder to predict, then combine the learners.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F6C80"/>
                </a:solidFill>
                <a:latin typeface="Aptos"/>
              </a:rPr>
              <a:t>Best starting point when you want a straightforward boosting baseline and a relatively simple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4203A"/>
                </a:solidFill>
                <a:latin typeface="Aptos"/>
              </a:rPr>
              <a:t>3. XGBoost Regressor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F6C80"/>
                </a:solidFill>
                <a:latin typeface="Aptos"/>
              </a:rPr>
              <a:t>Extreme Gradient Boosting: gradient-based learning with regularization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F6C80"/>
                </a:solidFill>
                <a:latin typeface="Aptos"/>
              </a:rPr>
              <a:t>04 /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201168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Core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3136392" cy="12618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Adds trees to improve the objective, using gradient information from the current model's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2011680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Why it is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13432"/>
            <a:ext cx="3136392" cy="12618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Regularization, missing-value handling, and efficient training make it a strong general-purpose 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2011680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A"/>
                </a:solidFill>
                <a:latin typeface="Aptos"/>
              </a:rPr>
              <a:t>Watch-outs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136392" cy="12618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More parameters to tune; deeper trees or too many rounds can overfit without 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60520"/>
            <a:ext cx="2011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03A"/>
                </a:solidFill>
                <a:latin typeface="Aptos"/>
              </a:rPr>
              <a:t>Useful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169BE"/>
                </a:solidFill>
                <a:latin typeface="Aptos"/>
              </a:rPr>
              <a:t>learning_rate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617720"/>
            <a:ext cx="3566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Step size of each new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617720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169BE"/>
                </a:solidFill>
                <a:latin typeface="Aptos"/>
              </a:rPr>
              <a:t>max_depth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617720"/>
            <a:ext cx="3566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Tree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169BE"/>
                </a:solidFill>
                <a:latin typeface="Aptos"/>
              </a:rPr>
              <a:t>n_estimators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57800"/>
            <a:ext cx="3566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Number of boosting rounds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257800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169BE"/>
                </a:solidFill>
                <a:latin typeface="Aptos"/>
              </a:rPr>
              <a:t>subsample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257800"/>
            <a:ext cx="3566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Fraction of rows used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80760"/>
            <a:ext cx="10424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5F6C80"/>
                </a:solidFill>
                <a:latin typeface="Aptos"/>
              </a:rPr>
              <a:t>Often a strong benchmark for structured/tabular regression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4203A"/>
                </a:solidFill>
                <a:latin typeface="Aptos"/>
              </a:rPr>
              <a:t>4. LightGBM Regressor &amp; Quick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F6C80"/>
                </a:solidFill>
                <a:latin typeface="Aptos"/>
              </a:rPr>
              <a:t>Light Gradient Boosting Machine: designed for fast, memory-efficient tree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914400" cy="54864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5F6C80"/>
                </a:solidFill>
                <a:latin typeface="Aptos"/>
              </a:rPr>
              <a:t>05 /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4754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554480"/>
          </a:xfrm>
          <a:prstGeom prst="rect">
            <a:avLst/>
          </a:prstGeom>
          <a:solidFill>
            <a:srgbClr val="16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3891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03A"/>
                </a:solidFill>
                <a:latin typeface="Aptos"/>
              </a:rPr>
              <a:t>LightGBM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4370832" cy="8046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83141"/>
                </a:solidFill>
                <a:latin typeface="Aptos"/>
              </a:rPr>
              <a:t>• Uses histogram-based splits and leaf-wise tree growth
• Often fast on large tabular datasets
• Control tree complexity to reduce 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600200"/>
            <a:ext cx="5897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600200"/>
            <a:ext cx="73152" cy="1554480"/>
          </a:xfrm>
          <a:prstGeom prst="rect">
            <a:avLst/>
          </a:prstGeom>
          <a:solidFill>
            <a:srgbClr val="31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764792"/>
            <a:ext cx="55321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03A"/>
                </a:solidFill>
                <a:latin typeface="Aptos"/>
              </a:rPr>
              <a:t>Practical reminder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221992"/>
            <a:ext cx="5513832" cy="8046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41"/>
                </a:solidFill>
                <a:latin typeface="Aptos"/>
              </a:rPr>
              <a:t>No algorithm wins on every dataset. Compare models using the same train/test split or cross-validation and the same metrics.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3520440"/>
          <a:ext cx="1088135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743200"/>
                <a:gridCol w="3063240"/>
                <a:gridCol w="3200400"/>
              </a:tblGrid>
              <a:tr h="4914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54864" marT="45720" marB="27432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idea</a:t>
                      </a:r>
                    </a:p>
                  </a:txBody>
                  <a:tcPr marL="73152" marR="54864" marT="45720" marB="27432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Typical advantage</a:t>
                      </a:r>
                    </a:p>
                  </a:txBody>
                  <a:tcPr marL="73152" marR="54864" marT="45720" marB="27432">
                    <a:solidFill>
                      <a:srgbClr val="14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Consideration</a:t>
                      </a:r>
                    </a:p>
                  </a:txBody>
                  <a:tcPr marL="73152" marR="54864" marT="45720" marB="27432">
                    <a:solidFill>
                      <a:srgbClr val="14203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AdaBoost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Reweights difficult examples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Simple boosting baseline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Can be sensitive to noisy points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73152" marR="54864" marT="45720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Gradient boosting + regularization</a:t>
                      </a:r>
                    </a:p>
                  </a:txBody>
                  <a:tcPr marL="73152" marR="54864" marT="45720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Strong, flexible performance</a:t>
                      </a:r>
                    </a:p>
                  </a:txBody>
                  <a:tcPr marL="73152" marR="54864" marT="45720" marB="27432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More tuning options</a:t>
                      </a:r>
                    </a:p>
                  </a:txBody>
                  <a:tcPr marL="73152" marR="54864" marT="45720" marB="27432">
                    <a:solidFill>
                      <a:srgbClr val="E8EF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LightGBM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Histogram + leaf-wise growth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Speed on larger tabular data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141"/>
                          </a:solidFill>
                          <a:latin typeface="Aptos"/>
                        </a:defRPr>
                      </a:pPr>
                      <a:r>
                        <a:t>Control leaf/tree complexity</a:t>
                      </a:r>
                    </a:p>
                  </a:txBody>
                  <a:tcPr marL="73152" marR="54864" marT="45720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49808" y="5806440"/>
            <a:ext cx="106070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4203A"/>
                </a:solidFill>
                <a:latin typeface="Aptos"/>
              </a:rPr>
              <a:t>Evaluate with MAE, RMSE, and R²; choose the model that performs best on unseen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236208"/>
            <a:ext cx="10607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F6C80"/>
                </a:solidFill>
                <a:latin typeface="Aptos"/>
              </a:rPr>
              <a:t>Note: exact performance depends on dataset, preprocessing, and hyperparameter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